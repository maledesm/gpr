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7" r:id="rId4"/>
  </p:sldMasterIdLst>
  <p:notesMasterIdLst>
    <p:notesMasterId r:id="rId5"/>
  </p:notesMasterIdLst>
  <p:sldIdLst>
    <p:sldId id="256" r:id="rId6"/>
    <p:sldId id="257" r:id="rId7"/>
    <p:sldId id="285" r:id="rId11"/>
    <p:sldId id="286" r:id="rId12"/>
    <p:sldId id="287" r:id="rId13"/>
    <p:sldId id="288" r:id="rId14"/>
    <p:sldId id="289" r:id="rId10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284" r:id="rId3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10" Type="http://schemas.openxmlformats.org/officeDocument/2006/relationships/slide" Target="slides/slide10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34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E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" name="Google Shape;7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/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Presentamos dónde está el radar hoy: qué está armado, cómo se procesa la señal y qué se midió. Al final, lo que cambia con la placa del generador propio.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Cadena de RF sobre una plaqueta, bocinas de chapa construidas por nosotros, PCM1808 y ESP32-C3. Los números de la derecha son los parámetros con los que se midió todo lo que se muestra después.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Primero qué es un GPR FMCW y cómo está armado el nuestro.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VCO barre de 1 a 2 GHz con una triangular. Lo que vuelve del blanco llega con retardo, y al mezclarlo con lo que sale queda un tono, el batido, cuya frecuencia es proporcional a la distancia. Medir distancia es medir esa frecuencia con una FFT. La resolución la fija el ancho de banda, no el muestreo.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triangular sintoniza el VCO; el splitter da la señal a transmitir y el oscilador local. El eco pasa por el LNA y el mezclador, se filtra y lo digitaliza un PCM1808 a 48 kHz. El ESP32-C3 lo manda por USB a la PC junto con lecturas de la triangular. Hoy la triangular sale de un generador de laboratorio; la placa propia está en camino.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 que está armado y las dos cosas que hubo que caracterizar: el VCO y los cables.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 una rampa de tensión lineal, la frecuencia no crece lineal: el batido de un blanco se desparrama y el pico se ensancha. La primera solución fue predistorsionar la rampa con un DAC. Hoy la rampa es lineal y la corrección se hace en el software, remuestreando la señal; se ve en la parte de procesamiento.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cable de antena se suma al retardo del blanco como un offset fijo: no cambia la pendiente ni la resolución, solo corre el origen. Lo medimos con el VNA, con fase. Cambiar los RG-58 viejos por RG-213 de 1 m bajó el offset y la pérdida.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núcleo del trabajo de software: de las muestras a la distancia.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Recorrido completo. En la placa: filtrado y diezmado. En la PC: se reconstruye dónde empieza cada rampa, se corta, se corrige el VCO, FFT, promedio de varias rampas, fondo y pico.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generador de laboratorio no da sincronismo. Leemos la triangular con el ADC del ESP32, unas 19 lecturas por período, y ajustamos un triángulo ideal a 50 períodos a la vez: período y fase. El error en el borde de rampa queda en unos 10 µs, menos de una décima de muestra. Con la placa propia esto se reemplaza por la onda cuadrada de sincronismo.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El batido depende de la frecuencia transmitida, no del tiempo. Si definimos una variable θ que avanza al ritmo de la frecuencia real, en θ el batido vuelve a ser un tono puro, sea cual sea la curva del VCO. Como θ es siempre la misma, el remuestreo es una matriz fija: un producto por rampa.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Hay dos formas de promediar. Coherente: sumar los complejos; el ruido se cancela y el piso baja 10·log N. Incoherente: sumar magnitudes; el piso queda igual pero su dispersión baja como raíz de N, y el pico se distingue mejor. Usamos incoherente porque no está garantizado que la fase se repita entre rampas. Promediar magnitud o potencia da lo mismo para ubicar el pico; para medir niveles, la magnitud subestima el ruido 1 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Mediciones del 28 de septiembre con una placa metálica a distintas distancias, contra la simulación en MEEP.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Arriba el radargrama: el tiempo hacia arriba, la frecuencia en horizontal. La traza roja es el pico de cada fila. Abajo, el espectro de la última fila sobre el fondo; el pico en 498 Hz. 3,59 m aparentes son 0,90 m de aire más el offset de cables y bocinas. A la derecha, el estado de la cadena y la triangular plegada.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Cada punto es una captura. La pendiente medida es 135,7 Hz/m contra 138,6 ideal y 139,1 simulada. La ordenada al origen es el offset: 1,46 m de cables, medidos con el VNA, más 1,23 m de bocinas y electrónica. Medición y simulación difieren menos de 6 Hz, o sea menos de 4,5 cm, en todas las distancias.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Espectro medido y simulado de la placa a 90 cm, cada uno normalizado a su pico. El pico principal coincide. A la izquierda hay una joroba unos 70 Hz abajo que se mueve con la placa: no es acoplamiento entre antenas ni la sala. Lo próximo es separar subidas de bajadas para ver si viene del VCO.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Lo inmediato es la placa del generador: deja el banco sin generador de laboratorio, alimentable desde un powerbank, y trae el sincronismo por hardware. Después, mejoras del procesamiento y salir del laboratorio.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3e0cfaca96b_0_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476" name="Google Shape;476;g3e0cfaca96b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Cierre. Muchas gracias. Quedo a disposición para preguntas del tribunal.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s-E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[t≈25s]</a:t>
            </a:r>
            <a:endParaRPr/>
          </a:p>
        </p:txBody>
      </p:sp>
      <p:sp>
        <p:nvSpPr>
          <p:cNvPr id="477" name="Google Shape;477;g3e0cfaca96b_0_16:notes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body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" type="body"/>
          </p:nvPr>
        </p:nvSpPr>
        <p:spPr>
          <a:xfrm rot="5400000">
            <a:off x="3833019" y="-1623219"/>
            <a:ext cx="4525962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30" name="Google Shape;30;p4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1" name="Google Shape;31;p4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/>
        </p:txBody>
      </p:sp>
      <p:sp>
        <p:nvSpPr>
          <p:cNvPr id="37" name="Google Shape;37;p5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58" name="Google Shape;58;p8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/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/>
        </p:txBody>
      </p:sp>
      <p:sp>
        <p:nvSpPr>
          <p:cNvPr id="65" name="Google Shape;65;p9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9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/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0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09600" y="1600200"/>
            <a:ext cx="109728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5.png"/><Relationship Id="rId4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1"/>
          <p:cNvPicPr preferRelativeResize="0"/>
          <p:nvPr/>
        </p:nvPicPr>
        <p:blipFill rotWithShape="1">
          <a:blip r:embed="rId3">
            <a:alphaModFix/>
          </a:blip>
          <a:srcRect b="27939" l="0" r="0" t="27939"/>
          <a:stretch/>
        </p:blipFill>
        <p:spPr>
          <a:xfrm>
            <a:off x="609600" y="1676400"/>
            <a:ext cx="10744198" cy="3581399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81" name="Google Shape;8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380875" y="-4617249"/>
            <a:ext cx="1201650" cy="9341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-5400000">
            <a:off x="5380875" y="1586176"/>
            <a:ext cx="1201650" cy="9341999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1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1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1"/>
          <p:cNvSpPr/>
          <p:nvPr/>
        </p:nvSpPr>
        <p:spPr>
          <a:xfrm>
            <a:off x="1193640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1"/>
          <p:cNvSpPr/>
          <p:nvPr/>
        </p:nvSpPr>
        <p:spPr>
          <a:xfrm>
            <a:off x="1193640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1"/>
          <p:cNvSpPr/>
          <p:nvPr/>
        </p:nvSpPr>
        <p:spPr>
          <a:xfrm>
            <a:off x="1193640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1"/>
          <p:cNvSpPr/>
          <p:nvPr/>
        </p:nvSpPr>
        <p:spPr>
          <a:xfrm>
            <a:off x="1193640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1"/>
          <p:cNvSpPr/>
          <p:nvPr/>
        </p:nvSpPr>
        <p:spPr>
          <a:xfrm>
            <a:off x="1193640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99" name="Google Shape;99;p12"/>
          <p:cNvSpPr txBox="1"/>
          <p:nvPr>
            <p:ph type="title"/>
          </p:nvPr>
        </p:nvSpPr>
        <p:spPr>
          <a:xfrm>
            <a:off x="334950" y="766075"/>
            <a:ext cx="11601600" cy="218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600">
                <a:solidFill>
                  <a:srgbClr val="0095D8"/>
                </a:solidFill>
              </a:rPr>
              <a:t>Radar de penetración terrestre FMCW: estado de avance</a:t>
            </a:r>
            <a:endParaRPr sz="3600"/>
          </a:p>
        </p:txBody>
      </p:sp>
      <p:sp>
        <p:nvSpPr>
          <p:cNvPr id="100" name="Google Shape;100;p12"/>
          <p:cNvSpPr txBox="1"/>
          <p:nvPr/>
        </p:nvSpPr>
        <p:spPr>
          <a:xfrm>
            <a:off x="600000" y="3553700"/>
            <a:ext cx="10899900" cy="24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s-ES" sz="2600"/>
              <a:t>Santiago Mogica y Martín Ledesma</a:t>
            </a:r>
            <a:endParaRPr sz="1600"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E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Ingeniería Electrónica — Trabajo Práctico Profesional (TPP)</a:t>
            </a:r>
            <a:endParaRPr sz="2200"/>
          </a:p>
          <a:p>
            <a:pPr indent="0" lvl="0" marL="0" marR="0" rtl="0" algn="l">
              <a:lnSpc>
                <a:spcPct val="12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s-ES" sz="2000" u="none" cap="none" strike="noStrike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Octubre de 2026</a:t>
            </a:r>
            <a:endParaRPr sz="2000"/>
          </a:p>
        </p:txBody>
      </p:sp>
      <p:sp>
        <p:nvSpPr>
          <p:cNvPr id="101" name="Google Shape;101;p12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2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2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2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2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9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pic>
        <p:nvPicPr>
          <p:cNvPr id="480" name="Google Shape;480;p39"/>
          <p:cNvPicPr preferRelativeResize="0"/>
          <p:nvPr/>
        </p:nvPicPr>
        <p:blipFill rotWithShape="1">
          <a:blip r:embed="rId3">
            <a:alphaModFix/>
          </a:blip>
          <a:srcRect b="18486" l="0" r="0" t="18486"/>
          <a:stretch/>
        </p:blipFill>
        <p:spPr>
          <a:xfrm>
            <a:off x="1181099" y="1104901"/>
            <a:ext cx="9829801" cy="464819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91440" y="182880"/>
            <a:ext cx="164100" cy="1239600"/>
          </a:xfrm>
          <a:prstGeom prst="rect">
            <a:avLst/>
          </a:prstGeom>
          <a:solidFill>
            <a:srgbClr val="1FA9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9"/>
          <p:cNvSpPr/>
          <p:nvPr/>
        </p:nvSpPr>
        <p:spPr>
          <a:xfrm>
            <a:off x="91440" y="1495800"/>
            <a:ext cx="164100" cy="1239600"/>
          </a:xfrm>
          <a:prstGeom prst="rect">
            <a:avLst/>
          </a:prstGeom>
          <a:solidFill>
            <a:srgbClr val="F19C1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39"/>
          <p:cNvSpPr/>
          <p:nvPr/>
        </p:nvSpPr>
        <p:spPr>
          <a:xfrm>
            <a:off x="91440" y="2809080"/>
            <a:ext cx="164100" cy="1239600"/>
          </a:xfrm>
          <a:prstGeom prst="rect">
            <a:avLst/>
          </a:prstGeom>
          <a:solidFill>
            <a:srgbClr val="A4C63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9"/>
          <p:cNvSpPr/>
          <p:nvPr/>
        </p:nvSpPr>
        <p:spPr>
          <a:xfrm>
            <a:off x="91440" y="4122000"/>
            <a:ext cx="164100" cy="1239600"/>
          </a:xfrm>
          <a:prstGeom prst="rect">
            <a:avLst/>
          </a:prstGeom>
          <a:solidFill>
            <a:srgbClr val="A52A2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9"/>
          <p:cNvSpPr/>
          <p:nvPr/>
        </p:nvSpPr>
        <p:spPr>
          <a:xfrm>
            <a:off x="91440" y="5435280"/>
            <a:ext cx="164100" cy="1239600"/>
          </a:xfrm>
          <a:prstGeom prst="rect">
            <a:avLst/>
          </a:prstGeom>
          <a:solidFill>
            <a:srgbClr val="7B5A9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39"/>
          <p:cNvSpPr/>
          <p:nvPr/>
        </p:nvSpPr>
        <p:spPr>
          <a:xfrm>
            <a:off x="11936400" y="182880"/>
            <a:ext cx="164100" cy="1239600"/>
          </a:xfrm>
          <a:prstGeom prst="rect">
            <a:avLst/>
          </a:prstGeom>
          <a:solidFill>
            <a:srgbClr val="1FA9E6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9"/>
          <p:cNvSpPr/>
          <p:nvPr/>
        </p:nvSpPr>
        <p:spPr>
          <a:xfrm>
            <a:off x="11936400" y="1495800"/>
            <a:ext cx="164100" cy="1239600"/>
          </a:xfrm>
          <a:prstGeom prst="rect">
            <a:avLst/>
          </a:prstGeom>
          <a:solidFill>
            <a:srgbClr val="F19C1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39"/>
          <p:cNvSpPr/>
          <p:nvPr/>
        </p:nvSpPr>
        <p:spPr>
          <a:xfrm>
            <a:off x="11936400" y="2809080"/>
            <a:ext cx="164100" cy="1239600"/>
          </a:xfrm>
          <a:prstGeom prst="rect">
            <a:avLst/>
          </a:prstGeom>
          <a:solidFill>
            <a:srgbClr val="A4C639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39"/>
          <p:cNvSpPr/>
          <p:nvPr/>
        </p:nvSpPr>
        <p:spPr>
          <a:xfrm>
            <a:off x="11936400" y="4122000"/>
            <a:ext cx="164100" cy="1239600"/>
          </a:xfrm>
          <a:prstGeom prst="rect">
            <a:avLst/>
          </a:prstGeom>
          <a:solidFill>
            <a:srgbClr val="A52A2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9"/>
          <p:cNvSpPr/>
          <p:nvPr/>
        </p:nvSpPr>
        <p:spPr>
          <a:xfrm>
            <a:off x="11936400" y="5435280"/>
            <a:ext cx="164100" cy="1239600"/>
          </a:xfrm>
          <a:prstGeom prst="rect">
            <a:avLst/>
          </a:prstGeom>
          <a:solidFill>
            <a:srgbClr val="7B5A9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380000" y="4523375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5000">
                <a:solidFill>
                  <a:srgbClr val="0095D8"/>
                </a:solidFill>
              </a:rPr>
              <a:t>El sistema</a:t>
            </a:r>
            <a:endParaRPr sz="5000"/>
          </a:p>
        </p:txBody>
      </p:sp>
      <p:sp>
        <p:nvSpPr>
          <p:cNvPr id="113" name="Google Shape;113;p13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Qué mide un radar FMCW</a:t>
            </a:r>
            <a:endParaRPr sz="3200"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566928" y="1024128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64748B"/>
                </a:solidFill>
                <a:latin typeface="Arial"/>
              </a:rPr>
              <a:t>La distancia se convierte en una frecuencia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566928" y="1691640"/>
            <a:ext cx="512064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F2937"/>
                </a:solidFill>
                <a:latin typeface="Arial"/>
              </a:rPr>
              <a:t>El VCO barre 1–2 GHz con una rampa triangular.</a:t>
            </a:r>
          </a:p>
          <a:p>
            <a:pPr algn="l" marL="292608" indent="-292608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F2937"/>
                </a:solidFill>
                <a:latin typeface="Arial"/>
              </a:rPr>
              <a:t>El eco llega retrasado τ = 2d/c: al mezclarlo con la señal que sale queda un tono de batido.</a:t>
            </a:r>
          </a:p>
          <a:p>
            <a:pPr algn="l" marL="292608" indent="-292608">
              <a:spcAft>
                <a:spcPts val="1000"/>
              </a:spcAft>
              <a:buFont typeface="Arial"/>
              <a:buChar char="•"/>
            </a:pPr>
            <a:r>
              <a:rPr sz="1900" b="0" i="1">
                <a:solidFill>
                  <a:srgbClr val="1F2937"/>
                </a:solidFill>
                <a:latin typeface="Arial"/>
              </a:rPr>
              <a:t>f</a:t>
            </a:r>
            <a:r>
              <a:rPr sz="1300" b="0" i="0">
                <a:solidFill>
                  <a:srgbClr val="1F2937"/>
                </a:solidFill>
                <a:latin typeface="Arial"/>
              </a:rPr>
              <a:t>batido</a:t>
            </a:r>
            <a:r>
              <a:rPr sz="1900" b="0" i="0">
                <a:solidFill>
                  <a:srgbClr val="1F2937"/>
                </a:solidFill>
                <a:latin typeface="Arial"/>
              </a:rPr>
              <a:t> = α₀·τ  →  proporcional a la distancia.</a:t>
            </a:r>
          </a:p>
          <a:p>
            <a:pPr algn="l" marL="292608" indent="-292608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1F2937"/>
                </a:solidFill>
                <a:latin typeface="Arial"/>
              </a:rPr>
              <a:t>Las rampas de subida y de bajada dan la misma frecuencia.</a:t>
            </a:r>
          </a:p>
        </p:txBody>
      </p:sp>
      <p:pic>
        <p:nvPicPr>
          <p:cNvPr id="238" name="Picture 237" descr="principio_fmc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600199"/>
            <a:ext cx="4023360" cy="3291840"/>
          </a:xfrm>
          <a:prstGeom prst="rect">
            <a:avLst/>
          </a:prstGeom>
        </p:spPr>
      </p:pic>
      <p:sp>
        <p:nvSpPr>
          <p:cNvPr id="239" name="TextBox 238"/>
          <p:cNvSpPr txBox="1"/>
          <p:nvPr/>
        </p:nvSpPr>
        <p:spPr>
          <a:xfrm>
            <a:off x="566928" y="480060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1040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MHz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566928" y="545896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ancho de banda barrido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3611880" y="480060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14,4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cm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3611880" y="545896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resolución: c / 2B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675120" y="4800600"/>
            <a:ext cx="27432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138,6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Hz/m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75120" y="5458968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batido por metro (rampa 50 ms)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Diagrama en bloques</a:t>
            </a:r>
            <a:endParaRPr sz="3200"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Picture 235" descr="diagrama_bloqu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234" y="1188720"/>
            <a:ext cx="10858500" cy="4343400"/>
          </a:xfrm>
          <a:prstGeom prst="rect">
            <a:avLst/>
          </a:prstGeom>
        </p:spPr>
      </p:pic>
      <p:sp>
        <p:nvSpPr>
          <p:cNvPr id="237" name="Rounded Rectangle 236"/>
          <p:cNvSpPr/>
          <p:nvPr/>
        </p:nvSpPr>
        <p:spPr>
          <a:xfrm>
            <a:off x="1938528" y="5623560"/>
            <a:ext cx="8412480" cy="50292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5875">
            <a:solidFill>
              <a:srgbClr val="F19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1500">
                <a:solidFill>
                  <a:srgbClr val="8A4B00"/>
                </a:solidFill>
                <a:latin typeface="Arial"/>
              </a:rPr>
              <a:t>Va a cambiar: </a:t>
            </a:r>
            <a:r>
              <a:rPr sz="1500">
                <a:solidFill>
                  <a:srgbClr val="8A4B00"/>
                </a:solidFill>
                <a:latin typeface="Arial"/>
              </a:rPr>
              <a:t>la triangular pasa del generador de laboratorio a la placa propia.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380000" y="4523375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5000">
                <a:solidFill>
                  <a:srgbClr val="0095D8"/>
                </a:solidFill>
              </a:rPr>
              <a:t>Banco de pruebas</a:t>
            </a:r>
            <a:endParaRPr sz="5000"/>
          </a:p>
        </p:txBody>
      </p:sp>
      <p:sp>
        <p:nvSpPr>
          <p:cNvPr id="113" name="Google Shape;113;p13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El banco de laboratorio</a:t>
            </a:r>
            <a:endParaRPr sz="3200"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Picture 235" descr="primer_banco_medicion1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371600"/>
            <a:ext cx="5852160" cy="4389120"/>
          </a:xfrm>
          <a:prstGeom prst="rect">
            <a:avLst/>
          </a:prstGeom>
        </p:spPr>
      </p:pic>
      <p:sp>
        <p:nvSpPr>
          <p:cNvPr id="237" name="TextBox 236"/>
          <p:cNvSpPr txBox="1"/>
          <p:nvPr/>
        </p:nvSpPr>
        <p:spPr>
          <a:xfrm>
            <a:off x="566928" y="5989320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Cadena de RF: VCO, atenuador, splitter, mezclador y amplificadores.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6812280" y="123444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100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ms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6812280" y="189280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período de la triangular: dos rampas de 50 ms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6812280" y="242316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48 → 6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kS/s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6812280" y="308152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muestreo del PCM1808 y salida diezmada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6812280" y="361188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300</a:t>
            </a:r>
            <a:r>
              <a:rPr sz="2000" b="1" i="0">
                <a:solidFill>
                  <a:srgbClr val="0095D8"/>
                </a:solidFill>
                <a:latin typeface="Arial"/>
              </a:rPr>
              <a:t/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6812280" y="427024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muestras por rampa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812280" y="4800600"/>
            <a:ext cx="48463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20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/s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6812280" y="545896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rampas útiles por segundo (subidas y bajadas)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El VCO no es lineal</a:t>
            </a:r>
            <a:endParaRPr sz="3200"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566928" y="1024128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64748B"/>
                </a:solidFill>
                <a:latin typeface="Arial"/>
              </a:rPr>
              <a:t>Su sensibilidad cambia casi 3 a 1 a lo largo de la banda</a:t>
            </a:r>
          </a:p>
        </p:txBody>
      </p:sp>
      <p:pic>
        <p:nvPicPr>
          <p:cNvPr id="237" name="Picture 236" descr="vco_frecuencia_vs_ten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813560"/>
            <a:ext cx="6949439" cy="4053839"/>
          </a:xfrm>
          <a:prstGeom prst="rect">
            <a:avLst/>
          </a:prstGeom>
        </p:spPr>
      </p:pic>
      <p:sp>
        <p:nvSpPr>
          <p:cNvPr id="238" name="TextBox 237"/>
          <p:cNvSpPr txBox="1"/>
          <p:nvPr/>
        </p:nvSpPr>
        <p:spPr>
          <a:xfrm>
            <a:off x="7863840" y="1737360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167–468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MHz/V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7863840" y="2395728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sensibilidad dF/dV medida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863840" y="3017520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943–1982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MHz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863840" y="3675887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banda usada, 0 a 3 V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7863840" y="4297680"/>
            <a:ext cx="38862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Arial"/>
              </a:rPr>
              <a:t>Antes: predistorsión con un DAC.</a:t>
            </a:r>
          </a:p>
          <a:p>
            <a:pPr algn="l" marL="292608" indent="-292608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Arial"/>
              </a:rPr>
              <a:t>Ahora: corrección en software, sin tocar el hardware.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Los cables suman distancia</a:t>
            </a:r>
            <a:endParaRPr sz="3200"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566928" y="1024128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64748B"/>
                </a:solidFill>
                <a:latin typeface="Arial"/>
              </a:rPr>
              <a:t>Un FMCW mide la diferencia de retardo entre las entradas del mezclador</a:t>
            </a:r>
          </a:p>
        </p:txBody>
      </p:sp>
      <p:pic>
        <p:nvPicPr>
          <p:cNvPr id="237" name="Picture 236" descr="cables_impac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551813"/>
            <a:ext cx="6949440" cy="2577332"/>
          </a:xfrm>
          <a:prstGeom prst="rect">
            <a:avLst/>
          </a:prstGeom>
        </p:spPr>
      </p:pic>
      <p:sp>
        <p:nvSpPr>
          <p:cNvPr id="238" name="TextBox 237"/>
          <p:cNvSpPr txBox="1"/>
          <p:nvPr/>
        </p:nvSpPr>
        <p:spPr>
          <a:xfrm>
            <a:off x="7863840" y="1737360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3,86 → 1,45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m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7863840" y="2395728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offset aparente: RG-58 viejos → RG-213 nuevos (VNA)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863840" y="3154680"/>
            <a:ext cx="38404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4,7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dB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7863840" y="3813048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de pérdida recuperados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7863840" y="4572000"/>
            <a:ext cx="38862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Arial"/>
              </a:rPr>
              <a:t>Es un offset, no un error de escala.</a:t>
            </a:r>
          </a:p>
          <a:p>
            <a:pPr algn="l" marL="292608" indent="-292608">
              <a:spcAft>
                <a:spcPts val="1000"/>
              </a:spcAft>
              <a:buFont typeface="Arial"/>
              <a:buChar char="•"/>
            </a:pPr>
            <a:r>
              <a:rPr sz="1700" b="0" i="0">
                <a:solidFill>
                  <a:srgbClr val="1F2937"/>
                </a:solidFill>
                <a:latin typeface="Arial"/>
              </a:rPr>
              <a:t>Se corrige con un punto de calibración.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380000" y="4523375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5000">
                <a:solidFill>
                  <a:srgbClr val="0095D8"/>
                </a:solidFill>
              </a:rPr>
              <a:t>Procesamiento de la señal</a:t>
            </a:r>
            <a:endParaRPr sz="5000"/>
          </a:p>
        </p:txBody>
      </p:sp>
      <p:sp>
        <p:nvSpPr>
          <p:cNvPr id="113" name="Google Shape;113;p13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La cadena de procesamiento</a:t>
            </a:r>
            <a:endParaRPr sz="3200"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566928" y="1024128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64748B"/>
                </a:solidFill>
                <a:latin typeface="Arial"/>
              </a:rPr>
              <a:t>Cada rampa de 50 ms se procesa sola y después se promedian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566928" y="1783080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31520" y="1965960"/>
            <a:ext cx="457200" cy="457200"/>
          </a:xfrm>
          <a:prstGeom prst="ellipse">
            <a:avLst/>
          </a:prstGeom>
          <a:solidFill>
            <a:srgbClr val="1F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1298448" y="198424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Arial"/>
              </a:rPr>
              <a:t>Diezmado ×8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49808" y="2560320"/>
            <a:ext cx="214884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Filtros de semibanda en el ESP32-C3: 48 → 6 kS/s sin aliasing</a:t>
            </a:r>
          </a:p>
        </p:txBody>
      </p:sp>
      <p:cxnSp>
        <p:nvCxnSpPr>
          <p:cNvPr id="241" name="Connector 240"/>
          <p:cNvCxnSpPr/>
          <p:nvPr/>
        </p:nvCxnSpPr>
        <p:spPr>
          <a:xfrm>
            <a:off x="3108960" y="2720339"/>
            <a:ext cx="246888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Rounded Rectangle 241"/>
          <p:cNvSpPr/>
          <p:nvPr/>
        </p:nvSpPr>
        <p:spPr>
          <a:xfrm>
            <a:off x="3383280" y="1783080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3547872" y="1965960"/>
            <a:ext cx="457200" cy="457200"/>
          </a:xfrm>
          <a:prstGeom prst="ellipse">
            <a:avLst/>
          </a:prstGeom>
          <a:solidFill>
            <a:srgbClr val="F19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4114800" y="198424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Arial"/>
              </a:rPr>
              <a:t>Sincronismo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3566160" y="2560320"/>
            <a:ext cx="214884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Período y fase de la triangular leída por GPIO3</a:t>
            </a:r>
          </a:p>
        </p:txBody>
      </p:sp>
      <p:cxnSp>
        <p:nvCxnSpPr>
          <p:cNvPr id="246" name="Connector 245"/>
          <p:cNvCxnSpPr/>
          <p:nvPr/>
        </p:nvCxnSpPr>
        <p:spPr>
          <a:xfrm>
            <a:off x="5925312" y="2720339"/>
            <a:ext cx="246888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Rounded Rectangle 246"/>
          <p:cNvSpPr/>
          <p:nvPr/>
        </p:nvSpPr>
        <p:spPr>
          <a:xfrm>
            <a:off x="6199632" y="1783080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6364224" y="1965960"/>
            <a:ext cx="457200" cy="457200"/>
          </a:xfrm>
          <a:prstGeom prst="ellipse">
            <a:avLst/>
          </a:prstGeom>
          <a:solidFill>
            <a:srgbClr val="A4C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931152" y="198424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Arial"/>
              </a:rPr>
              <a:t>Corte de rampas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382512" y="2560320"/>
            <a:ext cx="214884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300 muestras; las bajadas se invierten en el tiempo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8741664" y="2720339"/>
            <a:ext cx="246888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Rounded Rectangle 251"/>
          <p:cNvSpPr/>
          <p:nvPr/>
        </p:nvSpPr>
        <p:spPr>
          <a:xfrm>
            <a:off x="9015984" y="1783080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9180576" y="1965960"/>
            <a:ext cx="457200" cy="457200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9747504" y="198424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Arial"/>
              </a:rPr>
              <a:t>Corrección del VCO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198863" y="2560320"/>
            <a:ext cx="214884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Remuestreo a frecuencia uniforme (variable θ)</a:t>
            </a:r>
          </a:p>
        </p:txBody>
      </p:sp>
      <p:sp>
        <p:nvSpPr>
          <p:cNvPr id="256" name="Rounded Rectangle 255"/>
          <p:cNvSpPr/>
          <p:nvPr/>
        </p:nvSpPr>
        <p:spPr>
          <a:xfrm>
            <a:off x="566928" y="4114800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731520" y="4297680"/>
            <a:ext cx="457200" cy="457200"/>
          </a:xfrm>
          <a:prstGeom prst="ellipse">
            <a:avLst/>
          </a:prstGeom>
          <a:solidFill>
            <a:srgbClr val="7B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1298448" y="431596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Arial"/>
              </a:rPr>
              <a:t>Hann + FFT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749808" y="4892040"/>
            <a:ext cx="214884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Relleno ×8 (2400 puntos); se guarda |X|</a:t>
            </a:r>
          </a:p>
        </p:txBody>
      </p:sp>
      <p:cxnSp>
        <p:nvCxnSpPr>
          <p:cNvPr id="260" name="Connector 259"/>
          <p:cNvCxnSpPr/>
          <p:nvPr/>
        </p:nvCxnSpPr>
        <p:spPr>
          <a:xfrm>
            <a:off x="3108960" y="5052060"/>
            <a:ext cx="246888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Rounded Rectangle 260"/>
          <p:cNvSpPr/>
          <p:nvPr/>
        </p:nvSpPr>
        <p:spPr>
          <a:xfrm>
            <a:off x="3383280" y="4114800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3547872" y="4297680"/>
            <a:ext cx="457200" cy="457200"/>
          </a:xfrm>
          <a:prstGeom prst="ellipse">
            <a:avLst/>
          </a:prstGeom>
          <a:solidFill>
            <a:srgbClr val="1F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4114800" y="431596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Arial"/>
              </a:rPr>
              <a:t>Promedio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3566160" y="4892040"/>
            <a:ext cx="214884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N = 8 rampas por fila, incoherente</a:t>
            </a:r>
          </a:p>
        </p:txBody>
      </p:sp>
      <p:cxnSp>
        <p:nvCxnSpPr>
          <p:cNvPr id="265" name="Connector 264"/>
          <p:cNvCxnSpPr/>
          <p:nvPr/>
        </p:nvCxnSpPr>
        <p:spPr>
          <a:xfrm>
            <a:off x="5925312" y="5052060"/>
            <a:ext cx="246888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Rounded Rectangle 265"/>
          <p:cNvSpPr/>
          <p:nvPr/>
        </p:nvSpPr>
        <p:spPr>
          <a:xfrm>
            <a:off x="6199632" y="4114800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6364224" y="4297680"/>
            <a:ext cx="457200" cy="457200"/>
          </a:xfrm>
          <a:prstGeom prst="ellipse">
            <a:avLst/>
          </a:prstGeom>
          <a:solidFill>
            <a:srgbClr val="F19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268" name="TextBox 267"/>
          <p:cNvSpPr txBox="1"/>
          <p:nvPr/>
        </p:nvSpPr>
        <p:spPr>
          <a:xfrm>
            <a:off x="6931152" y="431596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Arial"/>
              </a:rPr>
              <a:t>Fondo y detección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6382512" y="4892040"/>
            <a:ext cx="214884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Resta del fondo y puerta de energía</a:t>
            </a:r>
          </a:p>
        </p:txBody>
      </p:sp>
      <p:cxnSp>
        <p:nvCxnSpPr>
          <p:cNvPr id="270" name="Connector 269"/>
          <p:cNvCxnSpPr/>
          <p:nvPr/>
        </p:nvCxnSpPr>
        <p:spPr>
          <a:xfrm>
            <a:off x="8741664" y="5052060"/>
            <a:ext cx="246888" cy="0"/>
          </a:xfrm>
          <a:prstGeom prst="line">
            <a:avLst/>
          </a:prstGeom>
          <a:ln w="25400">
            <a:solidFill>
              <a:srgbClr val="64748B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Rounded Rectangle 270"/>
          <p:cNvSpPr/>
          <p:nvPr/>
        </p:nvSpPr>
        <p:spPr>
          <a:xfrm>
            <a:off x="9015984" y="4114800"/>
            <a:ext cx="2514600" cy="1874519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9180576" y="4297680"/>
            <a:ext cx="457200" cy="457200"/>
          </a:xfrm>
          <a:prstGeom prst="ellipse">
            <a:avLst/>
          </a:prstGeom>
          <a:solidFill>
            <a:srgbClr val="A4C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9747504" y="4315968"/>
            <a:ext cx="1691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1F2937"/>
                </a:solidFill>
                <a:latin typeface="Arial"/>
              </a:rPr>
              <a:t>Pico sub-bin</a:t>
            </a:r>
          </a:p>
        </p:txBody>
      </p:sp>
      <p:sp>
        <p:nvSpPr>
          <p:cNvPr id="274" name="TextBox 273"/>
          <p:cNvSpPr txBox="1"/>
          <p:nvPr/>
        </p:nvSpPr>
        <p:spPr>
          <a:xfrm>
            <a:off x="9198863" y="4892040"/>
            <a:ext cx="2148840" cy="1005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Parábola en dB → distancia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566928" y="6172200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Pasos 1: firmware (adquisicion.ino). Pasos 2 a 8: PC (vivo_rapido.py).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Sincronismo por software</a:t>
            </a:r>
            <a:endParaRPr sz="3200"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566928" y="1024128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64748B"/>
                </a:solidFill>
                <a:latin typeface="Arial"/>
              </a:rPr>
              <a:t>Saber en qué muestra empieza cada rampa</a:t>
            </a:r>
          </a:p>
        </p:txBody>
      </p:sp>
      <p:cxnSp>
        <p:nvCxnSpPr>
          <p:cNvPr id="237" name="Connector 236"/>
          <p:cNvCxnSpPr/>
          <p:nvPr/>
        </p:nvCxnSpPr>
        <p:spPr>
          <a:xfrm flipV="1">
            <a:off x="749808" y="1783080"/>
            <a:ext cx="1463040" cy="2103120"/>
          </a:xfrm>
          <a:prstGeom prst="line">
            <a:avLst/>
          </a:prstGeom>
          <a:ln w="31750">
            <a:solidFill>
              <a:srgbClr val="F19C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>
            <a:off x="2212848" y="1783080"/>
            <a:ext cx="1463040" cy="2103120"/>
          </a:xfrm>
          <a:prstGeom prst="line">
            <a:avLst/>
          </a:prstGeom>
          <a:ln w="31750">
            <a:solidFill>
              <a:srgbClr val="F19C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Connector 238"/>
          <p:cNvCxnSpPr/>
          <p:nvPr/>
        </p:nvCxnSpPr>
        <p:spPr>
          <a:xfrm flipV="1">
            <a:off x="3675888" y="1783080"/>
            <a:ext cx="1463040" cy="2103120"/>
          </a:xfrm>
          <a:prstGeom prst="line">
            <a:avLst/>
          </a:prstGeom>
          <a:ln w="31750">
            <a:solidFill>
              <a:srgbClr val="F19C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>
            <a:off x="5138928" y="1783080"/>
            <a:ext cx="1463040" cy="2103120"/>
          </a:xfrm>
          <a:prstGeom prst="line">
            <a:avLst/>
          </a:prstGeom>
          <a:ln w="31750">
            <a:solidFill>
              <a:srgbClr val="F19C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Oval 240"/>
          <p:cNvSpPr/>
          <p:nvPr/>
        </p:nvSpPr>
        <p:spPr>
          <a:xfrm>
            <a:off x="778885" y="3744102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37479" y="3605552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96072" y="3382238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254666" y="3069739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413260" y="2748167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571853" y="2506235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730447" y="2357169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889040" y="2226172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2047634" y="2021321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2206227" y="1819963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2364821" y="1948377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2523414" y="2144246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2682008" y="2438004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2840601" y="2767303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2999195" y="3036105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3157788" y="3205717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3316382" y="3331460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3474976" y="3510237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3633569" y="3788684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3792163" y="3666372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950756" y="3495562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109350" y="3225433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4267943" y="2895936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4426537" y="2603297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4585130" y="2408803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4743724" y="2280717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4902317" y="2124356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5060911" y="1871839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5219504" y="1896383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5378098" y="2046382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5536692" y="2289751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5695285" y="2611901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5853879" y="2923573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6012472" y="3145437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6171066" y="3283289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329659" y="3422555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Oval 276"/>
          <p:cNvSpPr/>
          <p:nvPr/>
        </p:nvSpPr>
        <p:spPr>
          <a:xfrm>
            <a:off x="6488253" y="3647319"/>
            <a:ext cx="82296" cy="82296"/>
          </a:xfrm>
          <a:prstGeom prst="ellipse">
            <a:avLst/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8" name="Connector 277"/>
          <p:cNvCxnSpPr/>
          <p:nvPr/>
        </p:nvCxnSpPr>
        <p:spPr>
          <a:xfrm>
            <a:off x="749808" y="1691639"/>
            <a:ext cx="0" cy="2286000"/>
          </a:xfrm>
          <a:prstGeom prst="line">
            <a:avLst/>
          </a:prstGeom>
          <a:ln w="1270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>
            <a:off x="2212848" y="1691639"/>
            <a:ext cx="0" cy="2286000"/>
          </a:xfrm>
          <a:prstGeom prst="line">
            <a:avLst/>
          </a:prstGeom>
          <a:ln w="1270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>
            <a:off x="3675888" y="1691639"/>
            <a:ext cx="0" cy="2286000"/>
          </a:xfrm>
          <a:prstGeom prst="line">
            <a:avLst/>
          </a:prstGeom>
          <a:ln w="1270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>
            <a:off x="5138928" y="1691639"/>
            <a:ext cx="0" cy="2286000"/>
          </a:xfrm>
          <a:prstGeom prst="line">
            <a:avLst/>
          </a:prstGeom>
          <a:ln w="1270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2" name="Connector 281"/>
          <p:cNvCxnSpPr/>
          <p:nvPr/>
        </p:nvCxnSpPr>
        <p:spPr>
          <a:xfrm>
            <a:off x="6601968" y="1691639"/>
            <a:ext cx="0" cy="2286000"/>
          </a:xfrm>
          <a:prstGeom prst="line">
            <a:avLst/>
          </a:prstGeom>
          <a:ln w="12700">
            <a:solidFill>
              <a:srgbClr val="64748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Rounded Rectangle 282"/>
          <p:cNvSpPr/>
          <p:nvPr/>
        </p:nvSpPr>
        <p:spPr>
          <a:xfrm>
            <a:off x="804672" y="4206240"/>
            <a:ext cx="1353312" cy="502920"/>
          </a:xfrm>
          <a:prstGeom prst="roundRect">
            <a:avLst>
              <a:gd name="adj" fmla="val 8000"/>
            </a:avLst>
          </a:prstGeom>
          <a:solidFill>
            <a:srgbClr val="DB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2937"/>
                </a:solidFill>
                <a:latin typeface="Arial"/>
              </a:rPr>
              <a:t>subida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2267712" y="4206240"/>
            <a:ext cx="1353312" cy="502920"/>
          </a:xfrm>
          <a:prstGeom prst="roundRect">
            <a:avLst>
              <a:gd name="adj" fmla="val 8000"/>
            </a:avLst>
          </a:prstGeom>
          <a:solidFill>
            <a:srgbClr val="E6F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2937"/>
                </a:solidFill>
                <a:latin typeface="Arial"/>
              </a:rPr>
              <a:t>bajada invertida</a:t>
            </a:r>
          </a:p>
        </p:txBody>
      </p:sp>
      <p:sp>
        <p:nvSpPr>
          <p:cNvPr id="285" name="Rounded Rectangle 284"/>
          <p:cNvSpPr/>
          <p:nvPr/>
        </p:nvSpPr>
        <p:spPr>
          <a:xfrm>
            <a:off x="3730752" y="4206240"/>
            <a:ext cx="1353312" cy="502920"/>
          </a:xfrm>
          <a:prstGeom prst="roundRect">
            <a:avLst>
              <a:gd name="adj" fmla="val 8000"/>
            </a:avLst>
          </a:prstGeom>
          <a:solidFill>
            <a:srgbClr val="DB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2937"/>
                </a:solidFill>
                <a:latin typeface="Arial"/>
              </a:rPr>
              <a:t>subida</a:t>
            </a:r>
          </a:p>
        </p:txBody>
      </p:sp>
      <p:sp>
        <p:nvSpPr>
          <p:cNvPr id="286" name="Rounded Rectangle 285"/>
          <p:cNvSpPr/>
          <p:nvPr/>
        </p:nvSpPr>
        <p:spPr>
          <a:xfrm>
            <a:off x="5193792" y="4206240"/>
            <a:ext cx="1353312" cy="502920"/>
          </a:xfrm>
          <a:prstGeom prst="roundRect">
            <a:avLst>
              <a:gd name="adj" fmla="val 8000"/>
            </a:avLst>
          </a:prstGeom>
          <a:solidFill>
            <a:srgbClr val="E6F2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>
                <a:solidFill>
                  <a:srgbClr val="1F2937"/>
                </a:solidFill>
                <a:latin typeface="Arial"/>
              </a:rPr>
              <a:t>bajada invertida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749808" y="4800600"/>
            <a:ext cx="5852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1">
                <a:solidFill>
                  <a:srgbClr val="64748B"/>
                </a:solidFill>
                <a:latin typeface="Arial"/>
              </a:rPr>
              <a:t>Puntos: lecturas de la triangular (~19 por período). Línea: triángulo ajustado.</a:t>
            </a:r>
          </a:p>
        </p:txBody>
      </p:sp>
      <p:sp>
        <p:nvSpPr>
          <p:cNvPr id="288" name="TextBox 287"/>
          <p:cNvSpPr txBox="1"/>
          <p:nvPr/>
        </p:nvSpPr>
        <p:spPr>
          <a:xfrm>
            <a:off x="6812280" y="1783080"/>
            <a:ext cx="4937760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Arial"/>
              </a:rPr>
              <a:t>El ESP32-C3 lee la triangular por GPIO3, 187,5 veces por segundo.</a:t>
            </a:r>
          </a:p>
          <a:p>
            <a:pPr algn="l" marL="292608" indent="-292608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Arial"/>
              </a:rPr>
              <a:t>Se ajustan período y fase sobre los últimos 5 s (~50 períodos), cada 2 s.</a:t>
            </a:r>
          </a:p>
          <a:p>
            <a:pPr algn="l" marL="292608" indent="-292608">
              <a:spcAft>
                <a:spcPts val="1000"/>
              </a:spcAft>
              <a:buFont typeface="Arial"/>
              <a:buChar char="•"/>
            </a:pPr>
            <a:r>
              <a:rPr sz="1800" b="0" i="0">
                <a:solidFill>
                  <a:srgbClr val="1F2937"/>
                </a:solidFill>
                <a:latin typeface="Arial"/>
              </a:rPr>
              <a:t>Error en el borde de rampa: ~10 µs (una muestra son 167 µs).</a:t>
            </a:r>
          </a:p>
        </p:txBody>
      </p:sp>
      <p:sp>
        <p:nvSpPr>
          <p:cNvPr id="289" name="Rounded Rectangle 288"/>
          <p:cNvSpPr/>
          <p:nvPr/>
        </p:nvSpPr>
        <p:spPr>
          <a:xfrm>
            <a:off x="6812280" y="4983480"/>
            <a:ext cx="4937760" cy="86868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 w="15875">
            <a:solidFill>
              <a:srgbClr val="F19C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 algn="ctr"/>
            <a:r>
              <a:rPr b="1" sz="1500">
                <a:solidFill>
                  <a:srgbClr val="8A4B00"/>
                </a:solidFill>
                <a:latin typeface="Arial"/>
              </a:rPr>
              <a:t>Va a cambiar: </a:t>
            </a:r>
            <a:r>
              <a:rPr sz="1500">
                <a:solidFill>
                  <a:srgbClr val="8A4B00"/>
                </a:solidFill>
                <a:latin typeface="Arial"/>
              </a:rPr>
              <a:t>la placa del generador trae una onda cuadrada de sincronismo, flanco por flanco.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Corrección del VCO: remuestreo en θ</a:t>
            </a:r>
            <a:endParaRPr sz="3200"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566928" y="1024128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64748B"/>
                </a:solidFill>
                <a:latin typeface="Arial"/>
              </a:rPr>
              <a:t>En vez de linealizar el barrido, se linealiza el muestreo</a:t>
            </a:r>
          </a:p>
        </p:txBody>
      </p:sp>
      <p:sp>
        <p:nvSpPr>
          <p:cNvPr id="237" name="Rounded Rectangle 236"/>
          <p:cNvSpPr/>
          <p:nvPr/>
        </p:nvSpPr>
        <p:spPr>
          <a:xfrm>
            <a:off x="566928" y="1737360"/>
            <a:ext cx="6035040" cy="109728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795528" y="1847088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4748B"/>
                </a:solidFill>
                <a:latin typeface="Arial"/>
              </a:rPr>
              <a:t>Fase del batido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795528" y="2194560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0095D8"/>
                </a:solidFill>
                <a:latin typeface="Cambria Math"/>
              </a:rPr>
              <a:t>Δψ(t) ≈ 2π · τ · f(t)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566928" y="3063239"/>
            <a:ext cx="6035040" cy="109728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795528" y="3172968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4748B"/>
                </a:solidFill>
                <a:latin typeface="Arial"/>
              </a:rPr>
              <a:t>Nueva variable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795528" y="3520439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0095D8"/>
                </a:solidFill>
                <a:latin typeface="Cambria Math"/>
              </a:rPr>
              <a:t>θ(t) = [ f(t) − f(0) ] / α₀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566928" y="4389120"/>
            <a:ext cx="6035040" cy="109728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795528" y="4498848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 i="0">
                <a:solidFill>
                  <a:srgbClr val="64748B"/>
                </a:solidFill>
                <a:latin typeface="Arial"/>
              </a:rPr>
              <a:t>En θ es un tono puro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95528" y="4846320"/>
            <a:ext cx="5577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 i="0">
                <a:solidFill>
                  <a:srgbClr val="0095D8"/>
                </a:solidFill>
                <a:latin typeface="Cambria Math"/>
              </a:rPr>
              <a:t>x(θ) = A · cos( 2π · α₀τ · θ + φ )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6949440" y="1737360"/>
            <a:ext cx="2286000" cy="292608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ounded Rectangle 246"/>
          <p:cNvSpPr/>
          <p:nvPr/>
        </p:nvSpPr>
        <p:spPr>
          <a:xfrm>
            <a:off x="6949440" y="1737360"/>
            <a:ext cx="2286000" cy="82296"/>
          </a:xfrm>
          <a:prstGeom prst="roundRect">
            <a:avLst>
              <a:gd name="adj" fmla="val 8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7132320" y="1965960"/>
            <a:ext cx="1920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64748B"/>
                </a:solidFill>
                <a:latin typeface="Arial"/>
              </a:rPr>
              <a:t>Antes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7132320" y="2560320"/>
            <a:ext cx="1920240" cy="201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Predistorsión: el ESP32 escribía con un DAC una rampa deformada para que la frecuencia saliera recta.</a:t>
            </a:r>
          </a:p>
        </p:txBody>
      </p:sp>
      <p:sp>
        <p:nvSpPr>
          <p:cNvPr id="250" name="Rounded Rectangle 249"/>
          <p:cNvSpPr/>
          <p:nvPr/>
        </p:nvSpPr>
        <p:spPr>
          <a:xfrm>
            <a:off x="9418320" y="1737360"/>
            <a:ext cx="2331720" cy="292608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ounded Rectangle 250"/>
          <p:cNvSpPr/>
          <p:nvPr/>
        </p:nvSpPr>
        <p:spPr>
          <a:xfrm>
            <a:off x="9418320" y="1737360"/>
            <a:ext cx="2331720" cy="82296"/>
          </a:xfrm>
          <a:prstGeom prst="roundRect">
            <a:avLst>
              <a:gd name="adj" fmla="val 8000"/>
            </a:avLst>
          </a:prstGeom>
          <a:solidFill>
            <a:srgbClr val="0095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9601200" y="1965960"/>
            <a:ext cx="1965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0095D8"/>
                </a:solidFill>
                <a:latin typeface="Arial"/>
              </a:rPr>
              <a:t>Ahora</a:t>
            </a:r>
          </a:p>
        </p:txBody>
      </p:sp>
      <p:sp>
        <p:nvSpPr>
          <p:cNvPr id="253" name="TextBox 252"/>
          <p:cNvSpPr txBox="1"/>
          <p:nvPr/>
        </p:nvSpPr>
        <p:spPr>
          <a:xfrm>
            <a:off x="9601200" y="2560320"/>
            <a:ext cx="1965960" cy="20116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Rampa lineal de cualquier generador. La PC interpola la señal a frecuencia uniforme con la curva medida.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6949440" y="4846320"/>
            <a:ext cx="4800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1">
                <a:solidFill>
                  <a:srgbClr val="64748B"/>
                </a:solidFill>
                <a:latin typeface="Arial"/>
              </a:rPr>
              <a:t>Requisito: la triangular tiene que ser lineal y recorrer de 0 a 3 V completos.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Promedio de rampas: incoherente</a:t>
            </a:r>
            <a:endParaRPr sz="3200"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566928" y="1024128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64748B"/>
                </a:solidFill>
                <a:latin typeface="Arial"/>
              </a:rPr>
              <a:t>Promediamos magnitudes: el ruido no baja, pero se vuelve parejo</a:t>
            </a:r>
          </a:p>
        </p:txBody>
      </p:sp>
      <p:pic>
        <p:nvPicPr>
          <p:cNvPr id="237" name="Picture 236" descr="promedio_vs_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664208"/>
            <a:ext cx="7223760" cy="2889504"/>
          </a:xfrm>
          <a:prstGeom prst="rect">
            <a:avLst/>
          </a:prstGeom>
        </p:spPr>
      </p:pic>
      <p:sp>
        <p:nvSpPr>
          <p:cNvPr id="238" name="TextBox 237"/>
          <p:cNvSpPr txBox="1"/>
          <p:nvPr/>
        </p:nvSpPr>
        <p:spPr>
          <a:xfrm>
            <a:off x="566928" y="4617720"/>
            <a:ext cx="7223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Monte Carlo con la misma cadena del programa (docs/promedio_rampas.py).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092440" y="1691640"/>
            <a:ext cx="3657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5,3 → 1,6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dB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092440" y="2350008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dispersión del piso con N = 8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8092440" y="3017520"/>
            <a:ext cx="3657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64748B"/>
                </a:solidFill>
                <a:latin typeface="Arial"/>
              </a:rPr>
              <a:t>+9</a:t>
            </a:r>
            <a:r>
              <a:rPr sz="2000" b="1" i="0">
                <a:solidFill>
                  <a:srgbClr val="64748B"/>
                </a:solidFill>
                <a:latin typeface="Arial"/>
              </a:rPr>
              <a:t> dB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092440" y="3675887"/>
            <a:ext cx="3657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lo que daría el coherente con N = 8, si la fase se repite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566928" y="507492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Arial"/>
              </a:rPr>
              <a:t>Elegimos incoherente: la estabilidad de fase entre rampas no está verificada, y las bajadas invertidas tienen otra fase.</a:t>
            </a:r>
          </a:p>
          <a:p>
            <a:pPr algn="l" marL="292608" indent="-292608">
              <a:spcAft>
                <a:spcPts val="600"/>
              </a:spcAft>
              <a:buFont typeface="Arial"/>
              <a:buChar char="•"/>
            </a:pPr>
            <a:r>
              <a:rPr sz="1600" b="0" i="0">
                <a:solidFill>
                  <a:srgbClr val="1F2937"/>
                </a:solidFill>
                <a:latin typeface="Arial"/>
              </a:rPr>
              <a:t>Magnitud o potencia: igual para ubicar el pico (&lt; 0,2 dB en detección); para medir niveles, la magnitud subestima el piso ~1 dB.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380000" y="4523375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5000">
                <a:solidFill>
                  <a:srgbClr val="0095D8"/>
                </a:solidFill>
              </a:rPr>
              <a:t>Resultados</a:t>
            </a:r>
            <a:endParaRPr sz="5000"/>
          </a:p>
        </p:txBody>
      </p:sp>
      <p:sp>
        <p:nvSpPr>
          <p:cNvPr id="113" name="Google Shape;113;p13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Radargrama en vivo: placa a 90 cm</a:t>
            </a:r>
            <a:endParaRPr sz="3200"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6" name="Picture 235" descr="radargrama_placa_90c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281" y="1143000"/>
            <a:ext cx="8144404" cy="4846320"/>
          </a:xfrm>
          <a:prstGeom prst="rect">
            <a:avLst/>
          </a:prstGeom>
        </p:spPr>
      </p:pic>
      <p:sp>
        <p:nvSpPr>
          <p:cNvPr id="237" name="TextBox 236"/>
          <p:cNvSpPr txBox="1"/>
          <p:nvPr/>
        </p:nvSpPr>
        <p:spPr>
          <a:xfrm>
            <a:off x="566928" y="603504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1">
                <a:solidFill>
                  <a:srgbClr val="64748B"/>
                </a:solidFill>
                <a:latin typeface="Arial"/>
              </a:rPr>
              <a:t>vivo_rapido.py, fondo congelado, 8 rampas por fila (0,4 s). Pico en 498 Hz = 3,59 m aparentes.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Distancia contra frecuencia</a:t>
            </a:r>
            <a:endParaRPr sz="3200"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566928" y="1024128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64748B"/>
                </a:solidFill>
                <a:latin typeface="Arial"/>
              </a:rPr>
              <a:t>Cinco distancias de la placa: la pendiente es la esperada</a:t>
            </a:r>
          </a:p>
        </p:txBody>
      </p:sp>
      <p:pic>
        <p:nvPicPr>
          <p:cNvPr id="237" name="Picture 236" descr="relevamien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845" y="1600200"/>
            <a:ext cx="6737684" cy="4572000"/>
          </a:xfrm>
          <a:prstGeom prst="rect">
            <a:avLst/>
          </a:prstGeom>
        </p:spPr>
      </p:pic>
      <p:sp>
        <p:nvSpPr>
          <p:cNvPr id="238" name="TextBox 237"/>
          <p:cNvSpPr txBox="1"/>
          <p:nvPr/>
        </p:nvSpPr>
        <p:spPr>
          <a:xfrm>
            <a:off x="8412480" y="1691640"/>
            <a:ext cx="3383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135,7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Hz/m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8412480" y="2350008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pendiente medida (ideal 138,6; MEEP 139,1)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412480" y="3017520"/>
            <a:ext cx="3383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2,69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m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8412480" y="3675887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offset: 1,46 cables + 1,23 bocinas y electrónica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8412480" y="4343400"/>
            <a:ext cx="33832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0095D8"/>
                </a:solidFill>
                <a:latin typeface="Arial"/>
              </a:rPr>
              <a:t>&lt; 4,5</a:t>
            </a:r>
            <a:r>
              <a:rPr sz="2000" b="1" i="0">
                <a:solidFill>
                  <a:srgbClr val="0095D8"/>
                </a:solidFill>
                <a:latin typeface="Arial"/>
              </a:rPr>
              <a:t> cm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8412480" y="5001768"/>
            <a:ext cx="3383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64748B"/>
                </a:solidFill>
                <a:latin typeface="Arial"/>
              </a:rPr>
              <a:t>diferencia banco − simulación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El banco contra la simulación</a:t>
            </a:r>
            <a:endParaRPr sz="3200"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TextBox 235"/>
          <p:cNvSpPr txBox="1"/>
          <p:nvPr/>
        </p:nvSpPr>
        <p:spPr>
          <a:xfrm>
            <a:off x="566928" y="1024128"/>
            <a:ext cx="11183112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64748B"/>
                </a:solidFill>
                <a:latin typeface="Arial"/>
              </a:rPr>
              <a:t>El pico coincide; queda una joroba a la izquierda sin explicar</a:t>
            </a:r>
          </a:p>
        </p:txBody>
      </p:sp>
      <p:pic>
        <p:nvPicPr>
          <p:cNvPr id="237" name="Picture 236" descr="compar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6564" y="1600200"/>
            <a:ext cx="7863840" cy="3931920"/>
          </a:xfrm>
          <a:prstGeom prst="rect">
            <a:avLst/>
          </a:prstGeom>
        </p:spPr>
      </p:pic>
      <p:sp>
        <p:nvSpPr>
          <p:cNvPr id="238" name="TextBox 237"/>
          <p:cNvSpPr txBox="1"/>
          <p:nvPr/>
        </p:nvSpPr>
        <p:spPr>
          <a:xfrm>
            <a:off x="566928" y="562356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92608" indent="-292608">
              <a:spcAft>
                <a:spcPts val="1000"/>
              </a:spcAft>
              <a:buFont typeface="Arial"/>
              <a:buChar char="•"/>
            </a:pPr>
            <a:r>
              <a:rPr sz="1500" b="0" i="0">
                <a:solidFill>
                  <a:srgbClr val="1F2937"/>
                </a:solidFill>
                <a:latin typeface="Arial"/>
              </a:rPr>
              <a:t>Joroba ~70 Hz bajo el pico: se mueve con la placa y persiste con el fondo restado. Hipótesis a probar: diferencia entre subidas y bajadas (histéresis del VCO).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11" name="Google Shape;111;p13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112" name="Google Shape;112;p13"/>
          <p:cNvSpPr txBox="1"/>
          <p:nvPr>
            <p:ph type="title"/>
          </p:nvPr>
        </p:nvSpPr>
        <p:spPr>
          <a:xfrm>
            <a:off x="380000" y="4523375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5000">
                <a:solidFill>
                  <a:srgbClr val="0095D8"/>
                </a:solidFill>
              </a:rPr>
              <a:t>Próximos pasos</a:t>
            </a:r>
            <a:endParaRPr sz="5000"/>
          </a:p>
        </p:txBody>
      </p:sp>
      <p:sp>
        <p:nvSpPr>
          <p:cNvPr id="113" name="Google Shape;113;p13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3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3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3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8" name="Google Shape;228;p20"/>
          <p:cNvSpPr txBox="1"/>
          <p:nvPr>
            <p:ph idx="12" type="sldNum"/>
          </p:nvPr>
        </p:nvSpPr>
        <p:spPr>
          <a:xfrm>
            <a:off x="8737600" y="6245225"/>
            <a:ext cx="28449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  <p:sp>
        <p:nvSpPr>
          <p:cNvPr id="229" name="Google Shape;229;p20"/>
          <p:cNvSpPr txBox="1"/>
          <p:nvPr>
            <p:ph type="title"/>
          </p:nvPr>
        </p:nvSpPr>
        <p:spPr>
          <a:xfrm>
            <a:off x="380000" y="190500"/>
            <a:ext cx="11430000" cy="9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ES" sz="3200">
                <a:solidFill>
                  <a:srgbClr val="0095D8"/>
                </a:solidFill>
              </a:rPr>
              <a:t>Qué viene</a:t>
            </a:r>
            <a:endParaRPr sz="3200"/>
          </a:p>
        </p:txBody>
      </p:sp>
      <p:sp>
        <p:nvSpPr>
          <p:cNvPr id="231" name="Google Shape;231;p20"/>
          <p:cNvSpPr/>
          <p:nvPr/>
        </p:nvSpPr>
        <p:spPr>
          <a:xfrm>
            <a:off x="91440" y="182880"/>
            <a:ext cx="164160" cy="1239480"/>
          </a:xfrm>
          <a:prstGeom prst="rect">
            <a:avLst/>
          </a:prstGeom>
          <a:solidFill>
            <a:srgbClr val="1FA9E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91440" y="1495800"/>
            <a:ext cx="164160" cy="1239480"/>
          </a:xfrm>
          <a:prstGeom prst="rect">
            <a:avLst/>
          </a:prstGeom>
          <a:solidFill>
            <a:srgbClr val="F19C1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91440" y="2809080"/>
            <a:ext cx="164160" cy="1239480"/>
          </a:xfrm>
          <a:prstGeom prst="rect">
            <a:avLst/>
          </a:prstGeom>
          <a:solidFill>
            <a:srgbClr val="A4C63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1440" y="4122000"/>
            <a:ext cx="164160" cy="1239480"/>
          </a:xfrm>
          <a:prstGeom prst="rect">
            <a:avLst/>
          </a:prstGeom>
          <a:solidFill>
            <a:srgbClr val="A52A2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91440" y="5435280"/>
            <a:ext cx="164160" cy="1239480"/>
          </a:xfrm>
          <a:prstGeom prst="rect">
            <a:avLst/>
          </a:prstGeom>
          <a:solidFill>
            <a:srgbClr val="7B5A9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Rounded Rectangle 235"/>
          <p:cNvSpPr/>
          <p:nvPr/>
        </p:nvSpPr>
        <p:spPr>
          <a:xfrm>
            <a:off x="566928" y="1417320"/>
            <a:ext cx="2057400" cy="393192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ounded Rectangle 236"/>
          <p:cNvSpPr/>
          <p:nvPr/>
        </p:nvSpPr>
        <p:spPr>
          <a:xfrm>
            <a:off x="566928" y="1417320"/>
            <a:ext cx="2057400" cy="82296"/>
          </a:xfrm>
          <a:prstGeom prst="roundRect">
            <a:avLst>
              <a:gd name="adj" fmla="val 8000"/>
            </a:avLst>
          </a:prstGeom>
          <a:solidFill>
            <a:srgbClr val="1FA9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749808" y="1645920"/>
            <a:ext cx="1691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1FA9E6"/>
                </a:solidFill>
                <a:latin typeface="Arial"/>
              </a:rPr>
              <a:t>Generador propio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749808" y="2560320"/>
            <a:ext cx="1691640" cy="2697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Placa de la triangular (0–3 V, 20–200 ms) ya diseñada; reemplaza al generador de laboratorio y permite alimentar todo desde un powerbank.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2807208" y="1417320"/>
            <a:ext cx="2057400" cy="393192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ounded Rectangle 240"/>
          <p:cNvSpPr/>
          <p:nvPr/>
        </p:nvSpPr>
        <p:spPr>
          <a:xfrm>
            <a:off x="2807208" y="1417320"/>
            <a:ext cx="2057400" cy="82296"/>
          </a:xfrm>
          <a:prstGeom prst="roundRect">
            <a:avLst>
              <a:gd name="adj" fmla="val 8000"/>
            </a:avLst>
          </a:prstGeom>
          <a:solidFill>
            <a:srgbClr val="F19C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2990088" y="1645920"/>
            <a:ext cx="1691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F19C1A"/>
                </a:solidFill>
                <a:latin typeface="Arial"/>
              </a:rPr>
              <a:t>Sincronismo por hardware</a:t>
            </a:r>
          </a:p>
        </p:txBody>
      </p:sp>
      <p:sp>
        <p:nvSpPr>
          <p:cNvPr id="243" name="TextBox 242"/>
          <p:cNvSpPr txBox="1"/>
          <p:nvPr/>
        </p:nvSpPr>
        <p:spPr>
          <a:xfrm>
            <a:off x="2990088" y="2560320"/>
            <a:ext cx="1691640" cy="2697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La onda cuadrada de la placa marca cada rampa: reemplaza el ajuste estadístico sobre la triangular.</a:t>
            </a:r>
          </a:p>
        </p:txBody>
      </p:sp>
      <p:sp>
        <p:nvSpPr>
          <p:cNvPr id="244" name="Rounded Rectangle 243"/>
          <p:cNvSpPr/>
          <p:nvPr/>
        </p:nvSpPr>
        <p:spPr>
          <a:xfrm>
            <a:off x="5047488" y="1417320"/>
            <a:ext cx="2057400" cy="393192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ounded Rectangle 244"/>
          <p:cNvSpPr/>
          <p:nvPr/>
        </p:nvSpPr>
        <p:spPr>
          <a:xfrm>
            <a:off x="5047488" y="1417320"/>
            <a:ext cx="2057400" cy="82296"/>
          </a:xfrm>
          <a:prstGeom prst="roundRect">
            <a:avLst>
              <a:gd name="adj" fmla="val 8000"/>
            </a:avLst>
          </a:prstGeom>
          <a:solidFill>
            <a:srgbClr val="A4C6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5230368" y="1645920"/>
            <a:ext cx="1691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A4C639"/>
                </a:solidFill>
                <a:latin typeface="Arial"/>
              </a:rPr>
              <a:t>Procesamiento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5230368" y="2560320"/>
            <a:ext cx="1691640" cy="2697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Promedio en potencia (niveles sin sesgo); verificar la fase entre rampas y, si se repite, promedio coherente (+9 dB).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7287768" y="1417320"/>
            <a:ext cx="2057400" cy="393192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Rounded Rectangle 248"/>
          <p:cNvSpPr/>
          <p:nvPr/>
        </p:nvSpPr>
        <p:spPr>
          <a:xfrm>
            <a:off x="7287768" y="1417320"/>
            <a:ext cx="2057400" cy="82296"/>
          </a:xfrm>
          <a:prstGeom prst="roundRect">
            <a:avLst>
              <a:gd name="adj" fmla="val 8000"/>
            </a:avLst>
          </a:prstGeom>
          <a:solidFill>
            <a:srgbClr val="A52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7470648" y="1645920"/>
            <a:ext cx="1691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A52A2A"/>
                </a:solidFill>
                <a:latin typeface="Arial"/>
              </a:rPr>
              <a:t>Joroba de 70 Hz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470648" y="2560320"/>
            <a:ext cx="1691640" cy="2697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Comparar subidas contra bajadas para descartar histéresis del VCO.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9528048" y="1417320"/>
            <a:ext cx="2057400" cy="393192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Rounded Rectangle 252"/>
          <p:cNvSpPr/>
          <p:nvPr/>
        </p:nvSpPr>
        <p:spPr>
          <a:xfrm>
            <a:off x="9528048" y="1417320"/>
            <a:ext cx="2057400" cy="82296"/>
          </a:xfrm>
          <a:prstGeom prst="roundRect">
            <a:avLst>
              <a:gd name="adj" fmla="val 8000"/>
            </a:avLst>
          </a:prstGeom>
          <a:solidFill>
            <a:srgbClr val="7B5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9710928" y="1645920"/>
            <a:ext cx="1691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7B5A9C"/>
                </a:solidFill>
                <a:latin typeface="Arial"/>
              </a:rPr>
              <a:t>Fuera del laboratorio</a:t>
            </a:r>
          </a:p>
        </p:txBody>
      </p:sp>
      <p:sp>
        <p:nvSpPr>
          <p:cNvPr id="255" name="TextBox 254"/>
          <p:cNvSpPr txBox="1"/>
          <p:nvPr/>
        </p:nvSpPr>
        <p:spPr>
          <a:xfrm>
            <a:off x="9710928" y="2560320"/>
            <a:ext cx="1691640" cy="26974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 i="0">
                <a:solidFill>
                  <a:srgbClr val="1F2937"/>
                </a:solidFill>
                <a:latin typeface="Arial"/>
              </a:rPr>
              <a:t>Blancos enterrados y medición sobre suelo real.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