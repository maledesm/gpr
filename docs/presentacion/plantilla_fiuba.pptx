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65" r:id="rId15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5" Type="http://schemas.openxmlformats.org/officeDocument/2006/relationships/slide" Target="slides/slide10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/>
              <a:t>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0cfaca96b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6" name="Google Shape;476;g3e0cfaca9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Cierre. Muchas gracias. Quedo a disposición para preguntas del tribunal.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[t≈25s]</a:t>
            </a:r>
            <a:endParaRPr/>
          </a:p>
        </p:txBody>
      </p:sp>
      <p:sp>
        <p:nvSpPr>
          <p:cNvPr id="477" name="Google Shape;477;g3e0cfaca96b_0_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 rot="5400000">
            <a:off x="3833019" y="-1623219"/>
            <a:ext cx="4525962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3">
            <a:alphaModFix/>
          </a:blip>
          <a:srcRect b="27939" l="0" r="0" t="27939"/>
          <a:stretch/>
        </p:blipFill>
        <p:spPr>
          <a:xfrm>
            <a:off x="609600" y="1676400"/>
            <a:ext cx="10744198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380875" y="-4617249"/>
            <a:ext cx="1201650" cy="93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380875" y="1586176"/>
            <a:ext cx="1201650" cy="934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1193640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1193640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1193640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1193640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1193640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9" name="Google Shape;99;p12"/>
          <p:cNvSpPr txBox="1"/>
          <p:nvPr>
            <p:ph type="title"/>
          </p:nvPr>
        </p:nvSpPr>
        <p:spPr>
          <a:xfrm>
            <a:off x="334950" y="766075"/>
            <a:ext cx="116016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600">
                <a:solidFill>
                  <a:srgbClr val="0095D8"/>
                </a:solidFill>
              </a:rPr>
              <a:t>Diseño electrónico de drones y misiles de precisión: resistencia a la neutralización electrónica en vuelo</a:t>
            </a:r>
            <a:endParaRPr sz="3600"/>
          </a:p>
        </p:txBody>
      </p:sp>
      <p:sp>
        <p:nvSpPr>
          <p:cNvPr id="100" name="Google Shape;100;p12"/>
          <p:cNvSpPr txBox="1"/>
          <p:nvPr/>
        </p:nvSpPr>
        <p:spPr>
          <a:xfrm>
            <a:off x="600000" y="3553700"/>
            <a:ext cx="10899900" cy="24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600"/>
              <a:t>Santiago Mogica</a:t>
            </a:r>
            <a:endParaRPr sz="1600"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Electrónica — Gestión de Proyectos (TC 024).</a:t>
            </a:r>
            <a:endParaRPr sz="2200"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2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s-ES" sz="2000">
                <a:solidFill>
                  <a:srgbClr val="777777"/>
                </a:solidFill>
              </a:rPr>
              <a:t>12 de </a:t>
            </a:r>
            <a:r>
              <a:rPr lang="es-ES" sz="2000">
                <a:solidFill>
                  <a:srgbClr val="777777"/>
                </a:solidFill>
              </a:rPr>
              <a:t>mayo de 2026</a:t>
            </a:r>
            <a:r>
              <a:rPr b="0" i="0" lang="es-ES" sz="2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000"/>
          </a:p>
        </p:txBody>
      </p:sp>
      <p:sp>
        <p:nvSpPr>
          <p:cNvPr id="101" name="Google Shape;101;p12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Contexto del problema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Contra EMP/HPM — Blindaje físico</a:t>
            </a:r>
            <a:endParaRPr sz="3200"/>
          </a:p>
        </p:txBody>
      </p:sp>
      <p:sp>
        <p:nvSpPr>
          <p:cNvPr id="230" name="Google Shape;230;p20"/>
          <p:cNvSpPr txBox="1"/>
          <p:nvPr/>
        </p:nvSpPr>
        <p:spPr>
          <a:xfrm>
            <a:off x="380000" y="1422350"/>
            <a:ext cx="7614000" cy="4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b="1" lang="es-ES" sz="2600"/>
              <a:t>Jaula de faraday</a:t>
            </a:r>
            <a:endParaRPr b="1" sz="2600"/>
          </a:p>
          <a:p>
            <a:pPr indent="0" lvl="0" marL="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Char char="●"/>
            </a:pPr>
            <a:r>
              <a:rPr lang="es-ES" sz="2400"/>
              <a:t>Armazón metálico continuo alrededor de la electrónica.</a:t>
            </a:r>
            <a:endParaRPr sz="2400"/>
          </a:p>
          <a:p>
            <a:pPr indent="0" lvl="0" marL="4572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l">
              <a:lnSpc>
                <a:spcPct val="200000"/>
              </a:lnSpc>
              <a:spcBef>
                <a:spcPts val="120"/>
              </a:spcBef>
              <a:spcAft>
                <a:spcPts val="0"/>
              </a:spcAft>
              <a:buSzPts val="2400"/>
              <a:buChar char="●"/>
            </a:pPr>
            <a:r>
              <a:rPr lang="es-ES" sz="2400"/>
              <a:t>Juntas y sellos conductores en cada apertura.</a:t>
            </a:r>
            <a:endParaRPr sz="2400"/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/>
              <a:t>Cables y conectores blindados.</a:t>
            </a:r>
            <a:endParaRPr sz="2400"/>
          </a:p>
          <a:p>
            <a:pPr indent="0" lvl="0" marL="4572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1586" y="2313336"/>
            <a:ext cx="3826614" cy="22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480" name="Google Shape;480;p39"/>
          <p:cNvPicPr preferRelativeResize="0"/>
          <p:nvPr/>
        </p:nvPicPr>
        <p:blipFill rotWithShape="1">
          <a:blip r:embed="rId3">
            <a:alphaModFix/>
          </a:blip>
          <a:srcRect b="18486" l="0" r="0" t="18486"/>
          <a:stretch/>
        </p:blipFill>
        <p:spPr>
          <a:xfrm>
            <a:off x="1181099" y="1104901"/>
            <a:ext cx="9829801" cy="46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91440" y="182880"/>
            <a:ext cx="164100" cy="123960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91440" y="1495800"/>
            <a:ext cx="164100" cy="123960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91440" y="2809080"/>
            <a:ext cx="164100" cy="123960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91440" y="4122000"/>
            <a:ext cx="164100" cy="123960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91440" y="5435280"/>
            <a:ext cx="164100" cy="123960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11936400" y="182880"/>
            <a:ext cx="164100" cy="123960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11936400" y="1495800"/>
            <a:ext cx="164100" cy="123960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1936400" y="2809080"/>
            <a:ext cx="164100" cy="123960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11936400" y="4122000"/>
            <a:ext cx="164100" cy="123960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11936400" y="5435280"/>
            <a:ext cx="164100" cy="123960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